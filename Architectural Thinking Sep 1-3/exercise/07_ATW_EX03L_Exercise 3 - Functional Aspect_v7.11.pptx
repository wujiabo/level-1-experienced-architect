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290" r:id="rId1"/>
  </p:sldMasterIdLst>
  <p:notesMasterIdLst>
    <p:notesMasterId r:id="rId6"/>
  </p:notesMasterIdLst>
  <p:handoutMasterIdLst>
    <p:handoutMasterId r:id="rId7"/>
  </p:handoutMasterIdLst>
  <p:sldIdLst>
    <p:sldId id="611" r:id="rId2"/>
    <p:sldId id="847" r:id="rId3"/>
    <p:sldId id="848" r:id="rId4"/>
    <p:sldId id="802" r:id="rId5"/>
  </p:sldIdLst>
  <p:sldSz cx="9144000" cy="6858000" type="screen4x3"/>
  <p:notesSz cx="6718300" cy="9867900"/>
  <p:custDataLst>
    <p:tags r:id="rId8"/>
  </p:custDataLst>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404">
          <p15:clr>
            <a:srgbClr val="A4A3A4"/>
          </p15:clr>
        </p15:guide>
        <p15:guide id="2" orient="horz" pos="854">
          <p15:clr>
            <a:srgbClr val="A4A3A4"/>
          </p15:clr>
        </p15:guide>
        <p15:guide id="3" pos="4672">
          <p15:clr>
            <a:srgbClr val="A4A3A4"/>
          </p15:clr>
        </p15:guide>
        <p15:guide id="4" pos="193">
          <p15:clr>
            <a:srgbClr val="A4A3A4"/>
          </p15:clr>
        </p15:guide>
        <p15:guide id="5" pos="340">
          <p15:clr>
            <a:srgbClr val="A4A3A4"/>
          </p15:clr>
        </p15:guide>
      </p15:sldGuideLst>
    </p:ext>
    <p:ext uri="{2D200454-40CA-4A62-9FC3-DE9A4176ACB9}">
      <p15:notesGuideLst xmlns:p15="http://schemas.microsoft.com/office/powerpoint/2012/main">
        <p15:guide id="1" orient="horz" pos="3108">
          <p15:clr>
            <a:srgbClr val="A4A3A4"/>
          </p15:clr>
        </p15:guide>
        <p15:guide id="2" pos="21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E"/>
    <a:srgbClr val="8CC63E"/>
    <a:srgbClr val="5B9AE1"/>
    <a:srgbClr val="5C9BE0"/>
    <a:srgbClr val="99BFEE"/>
    <a:srgbClr val="D3E6FF"/>
    <a:srgbClr val="00CC6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38" autoAdjust="0"/>
    <p:restoredTop sz="93478" autoAdjust="0"/>
  </p:normalViewPr>
  <p:slideViewPr>
    <p:cSldViewPr>
      <p:cViewPr varScale="1">
        <p:scale>
          <a:sx n="139" d="100"/>
          <a:sy n="139" d="100"/>
        </p:scale>
        <p:origin x="1544" y="168"/>
      </p:cViewPr>
      <p:guideLst>
        <p:guide orient="horz" pos="404"/>
        <p:guide orient="horz" pos="854"/>
        <p:guide pos="4672"/>
        <p:guide pos="193"/>
        <p:guide pos="3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848" y="2862"/>
      </p:cViewPr>
      <p:guideLst>
        <p:guide orient="horz" pos="3108"/>
        <p:guide pos="2116"/>
      </p:guideLst>
    </p:cSldViewPr>
  </p:notesViewPr>
  <p:gridSpacing cx="38405" cy="38405"/>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ags" Target="tags/tag1.xml"/><Relationship Id="rId9" Type="http://schemas.openxmlformats.org/officeDocument/2006/relationships/presProps" Target="presProps.xml"/><Relationship Id="rId1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0306" name="Rectangle 2"/>
          <p:cNvSpPr>
            <a:spLocks noGrp="1" noChangeArrowheads="1"/>
          </p:cNvSpPr>
          <p:nvPr>
            <p:ph type="hdr" sz="quarter"/>
          </p:nvPr>
        </p:nvSpPr>
        <p:spPr bwMode="auto">
          <a:xfrm>
            <a:off x="0"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ea typeface="MS PGothic" pitchFamily="34" charset="-128"/>
              </a:defRPr>
            </a:lvl1pPr>
          </a:lstStyle>
          <a:p>
            <a:pPr>
              <a:defRPr/>
            </a:pPr>
            <a:endParaRPr lang="en-US"/>
          </a:p>
        </p:txBody>
      </p:sp>
      <p:sp>
        <p:nvSpPr>
          <p:cNvPr id="1250307" name="Rectangle 3"/>
          <p:cNvSpPr>
            <a:spLocks noGrp="1" noChangeArrowheads="1"/>
          </p:cNvSpPr>
          <p:nvPr>
            <p:ph type="dt" sz="quarter" idx="1"/>
          </p:nvPr>
        </p:nvSpPr>
        <p:spPr bwMode="auto">
          <a:xfrm>
            <a:off x="3805238"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ea typeface="MS PGothic" pitchFamily="34" charset="-128"/>
              </a:defRPr>
            </a:lvl1pPr>
          </a:lstStyle>
          <a:p>
            <a:pPr>
              <a:defRPr/>
            </a:pPr>
            <a:endParaRPr lang="en-US"/>
          </a:p>
        </p:txBody>
      </p:sp>
      <p:sp>
        <p:nvSpPr>
          <p:cNvPr id="1250308" name="Rectangle 4"/>
          <p:cNvSpPr>
            <a:spLocks noGrp="1" noChangeArrowheads="1"/>
          </p:cNvSpPr>
          <p:nvPr>
            <p:ph type="ftr" sz="quarter" idx="2"/>
          </p:nvPr>
        </p:nvSpPr>
        <p:spPr bwMode="auto">
          <a:xfrm>
            <a:off x="0"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ea typeface="MS PGothic" pitchFamily="34" charset="-128"/>
              </a:defRPr>
            </a:lvl1pPr>
          </a:lstStyle>
          <a:p>
            <a:pPr>
              <a:defRPr/>
            </a:pPr>
            <a:r>
              <a:rPr lang="en-US"/>
              <a:t>What is Architecture</a:t>
            </a:r>
          </a:p>
        </p:txBody>
      </p:sp>
      <p:sp>
        <p:nvSpPr>
          <p:cNvPr id="1250309" name="Rectangle 5"/>
          <p:cNvSpPr>
            <a:spLocks noGrp="1" noChangeArrowheads="1"/>
          </p:cNvSpPr>
          <p:nvPr>
            <p:ph type="sldNum" sz="quarter" idx="3"/>
          </p:nvPr>
        </p:nvSpPr>
        <p:spPr bwMode="auto">
          <a:xfrm>
            <a:off x="3805238"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4F1D650D-B20A-4929-A203-F22E6808E513}" type="slidenum">
              <a:rPr lang="en-US" altLang="en-US"/>
              <a:pPr>
                <a:defRPr/>
              </a:pPr>
              <a:t>‹#›</a:t>
            </a:fld>
            <a:endParaRPr lang="en-US" altLang="en-US"/>
          </a:p>
        </p:txBody>
      </p:sp>
    </p:spTree>
    <p:extLst>
      <p:ext uri="{BB962C8B-B14F-4D97-AF65-F5344CB8AC3E}">
        <p14:creationId xmlns:p14="http://schemas.microsoft.com/office/powerpoint/2010/main" val="3973485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defRPr sz="1200" b="0">
                <a:ea typeface="MS PGothic" pitchFamily="34" charset="-128"/>
              </a:defRPr>
            </a:lvl1pPr>
          </a:lstStyle>
          <a:p>
            <a:pPr>
              <a:defRPr/>
            </a:pPr>
            <a:endParaRPr lang="en-US" altLang="zh-CN"/>
          </a:p>
        </p:txBody>
      </p:sp>
      <p:sp>
        <p:nvSpPr>
          <p:cNvPr id="5123" name="Rectangle 3"/>
          <p:cNvSpPr>
            <a:spLocks noGrp="1" noChangeArrowheads="1"/>
          </p:cNvSpPr>
          <p:nvPr>
            <p:ph type="dt" idx="1"/>
          </p:nvPr>
        </p:nvSpPr>
        <p:spPr bwMode="auto">
          <a:xfrm>
            <a:off x="3806825"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b="0">
                <a:ea typeface="MS PGothic" pitchFamily="34" charset="-128"/>
              </a:defRPr>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892175" y="739775"/>
            <a:ext cx="4933950"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895350" y="4687888"/>
            <a:ext cx="4927600" cy="4440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9374188"/>
            <a:ext cx="2911475" cy="49371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a:defRPr sz="1000" b="0">
                <a:ea typeface="MS PGothic" pitchFamily="34" charset="-128"/>
              </a:defRPr>
            </a:lvl1pPr>
          </a:lstStyle>
          <a:p>
            <a:pPr>
              <a:defRPr/>
            </a:pPr>
            <a:r>
              <a:rPr lang="zh-CN" altLang="en-US"/>
              <a:t>What is Architecture</a:t>
            </a:r>
            <a:endParaRPr lang="en-US" altLang="zh-CN" dirty="0"/>
          </a:p>
        </p:txBody>
      </p:sp>
      <p:sp>
        <p:nvSpPr>
          <p:cNvPr id="5127" name="Rectangle 7"/>
          <p:cNvSpPr>
            <a:spLocks noGrp="1" noChangeArrowheads="1"/>
          </p:cNvSpPr>
          <p:nvPr>
            <p:ph type="sldNum" sz="quarter" idx="5"/>
          </p:nvPr>
        </p:nvSpPr>
        <p:spPr bwMode="auto">
          <a:xfrm>
            <a:off x="3806825" y="9374188"/>
            <a:ext cx="2911475" cy="49371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000" b="0"/>
            </a:lvl1pPr>
          </a:lstStyle>
          <a:p>
            <a:pPr>
              <a:defRPr/>
            </a:pPr>
            <a:fld id="{336ABA53-03CF-4F1C-9982-CCB53873B239}" type="slidenum">
              <a:rPr lang="zh-CN" altLang="en-US"/>
              <a:pPr>
                <a:defRPr/>
              </a:pPr>
              <a:t>‹#›</a:t>
            </a:fld>
            <a:endParaRPr lang="en-US" altLang="zh-CN"/>
          </a:p>
        </p:txBody>
      </p:sp>
    </p:spTree>
    <p:extLst>
      <p:ext uri="{BB962C8B-B14F-4D97-AF65-F5344CB8AC3E}">
        <p14:creationId xmlns:p14="http://schemas.microsoft.com/office/powerpoint/2010/main" val="2830862572"/>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1pPr>
    <a:lvl2pPr marL="4572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2pPr>
    <a:lvl3pPr marL="9144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3pPr>
    <a:lvl4pPr marL="13716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4pPr>
    <a:lvl5pPr marL="18288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r>
              <a:rPr lang="en-US" altLang="zh-CN" sz="1000" b="0"/>
              <a:t>What is Architecture</a:t>
            </a:r>
          </a:p>
        </p:txBody>
      </p:sp>
      <p:sp>
        <p:nvSpPr>
          <p:cNvPr id="112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fld id="{423854DA-0BFB-410E-AC87-14B8E4970D77}" type="slidenum">
              <a:rPr lang="zh-CN" altLang="en-US" sz="1000" b="0" smtClean="0"/>
              <a:pPr/>
              <a:t>1</a:t>
            </a:fld>
            <a:endParaRPr lang="en-US" altLang="zh-CN" sz="1000" b="0"/>
          </a:p>
        </p:txBody>
      </p:sp>
      <p:sp>
        <p:nvSpPr>
          <p:cNvPr id="11268" name="Rectangle 2"/>
          <p:cNvSpPr>
            <a:spLocks noGrp="1" noRot="1" noChangeAspect="1" noChangeArrowheads="1" noTextEdit="1"/>
          </p:cNvSpPr>
          <p:nvPr>
            <p:ph type="sldImg"/>
          </p:nvPr>
        </p:nvSpPr>
        <p:spPr>
          <a:ln/>
        </p:spPr>
      </p:sp>
      <p:sp>
        <p:nvSpPr>
          <p:cNvPr id="112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cs typeface="Arial" panose="020B0604020202020204" pitchFamily="34" charset="0"/>
            </a:endParaRPr>
          </a:p>
        </p:txBody>
      </p:sp>
    </p:spTree>
    <p:extLst>
      <p:ext uri="{BB962C8B-B14F-4D97-AF65-F5344CB8AC3E}">
        <p14:creationId xmlns:p14="http://schemas.microsoft.com/office/powerpoint/2010/main" val="2569842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r>
              <a:rPr lang="en-US" altLang="zh-CN" sz="1000" b="0"/>
              <a:t>What is Architecture</a:t>
            </a:r>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fld id="{1DC89BF3-4F01-42B4-A659-25008DE640DD}" type="slidenum">
              <a:rPr lang="zh-CN" altLang="en-US" sz="1000" b="0" smtClean="0"/>
              <a:pPr/>
              <a:t>2</a:t>
            </a:fld>
            <a:endParaRPr lang="en-US" altLang="zh-CN" sz="1000" b="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endParaRPr lang="en-US" altLang="zh-CN" i="1"/>
          </a:p>
        </p:txBody>
      </p:sp>
    </p:spTree>
    <p:extLst>
      <p:ext uri="{BB962C8B-B14F-4D97-AF65-F5344CB8AC3E}">
        <p14:creationId xmlns:p14="http://schemas.microsoft.com/office/powerpoint/2010/main" val="2381322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r>
              <a:rPr lang="en-US" altLang="zh-CN" sz="1000" b="0"/>
              <a:t>What is Architecture</a:t>
            </a:r>
          </a:p>
        </p:txBody>
      </p:sp>
      <p:sp>
        <p:nvSpPr>
          <p:cNvPr id="1536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fld id="{72A271EA-A605-44F9-8C1F-5E4353F5524B}" type="slidenum">
              <a:rPr lang="zh-CN" altLang="en-US" sz="1000" b="0" smtClean="0"/>
              <a:pPr/>
              <a:t>3</a:t>
            </a:fld>
            <a:endParaRPr lang="en-US" altLang="zh-CN" sz="1000" b="0"/>
          </a:p>
        </p:txBody>
      </p:sp>
      <p:sp>
        <p:nvSpPr>
          <p:cNvPr id="15364" name="Rectangle 2"/>
          <p:cNvSpPr>
            <a:spLocks noGrp="1" noRot="1" noChangeAspect="1" noChangeArrowheads="1" noTextEdit="1"/>
          </p:cNvSpPr>
          <p:nvPr>
            <p:ph type="sldImg"/>
          </p:nvPr>
        </p:nvSpPr>
        <p:spPr>
          <a:ln/>
        </p:spPr>
      </p:sp>
      <p:sp>
        <p:nvSpPr>
          <p:cNvPr id="153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endParaRPr lang="en-US" altLang="zh-CN" i="1"/>
          </a:p>
        </p:txBody>
      </p:sp>
    </p:spTree>
    <p:extLst>
      <p:ext uri="{BB962C8B-B14F-4D97-AF65-F5344CB8AC3E}">
        <p14:creationId xmlns:p14="http://schemas.microsoft.com/office/powerpoint/2010/main" val="2059929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5811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hyperlink" Target="http://www.ibm.com/legal/copytrade.shtml" TargetMode="External"/><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937125"/>
            <a:ext cx="9144000" cy="8842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p:cNvSpPr/>
          <p:nvPr userDrawn="1"/>
        </p:nvSpPr>
        <p:spPr>
          <a:xfrm>
            <a:off x="0" y="5880100"/>
            <a:ext cx="9144000" cy="355600"/>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Subtitle 2"/>
          <p:cNvSpPr txBox="1">
            <a:spLocks/>
          </p:cNvSpPr>
          <p:nvPr userDrawn="1"/>
        </p:nvSpPr>
        <p:spPr>
          <a:xfrm>
            <a:off x="307975" y="207963"/>
            <a:ext cx="2487613" cy="239712"/>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solidFill>
                  <a:srgbClr val="003E68"/>
                </a:solidFill>
              </a:rPr>
              <a:t>Architectural Thinking Workshop</a:t>
            </a:r>
          </a:p>
        </p:txBody>
      </p:sp>
      <p:pic>
        <p:nvPicPr>
          <p:cNvPr id="9"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45375" y="4892675"/>
            <a:ext cx="1393825" cy="139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302625" y="285750"/>
            <a:ext cx="55721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09880" y="5062379"/>
            <a:ext cx="5450840" cy="634683"/>
          </a:xfrm>
        </p:spPr>
        <p:txBody>
          <a:bodyPr>
            <a:normAutofit/>
          </a:bodyPr>
          <a:lstStyle>
            <a:lvl1pPr algn="l">
              <a:defRPr sz="2000">
                <a:solidFill>
                  <a:schemeClr val="bg1"/>
                </a:solidFill>
              </a:defRPr>
            </a:lvl1pPr>
          </a:lstStyle>
          <a:p>
            <a:r>
              <a:rPr lang="en-US"/>
              <a:t>Click to edit Master title style</a:t>
            </a:r>
            <a:endParaRPr lang="en-US" dirty="0"/>
          </a:p>
        </p:txBody>
      </p:sp>
      <p:sp>
        <p:nvSpPr>
          <p:cNvPr id="11" name="Subtitle 2"/>
          <p:cNvSpPr txBox="1">
            <a:spLocks/>
          </p:cNvSpPr>
          <p:nvPr userDrawn="1"/>
        </p:nvSpPr>
        <p:spPr>
          <a:xfrm>
            <a:off x="4377880" y="5972553"/>
            <a:ext cx="3385439" cy="282672"/>
          </a:xfrm>
          <a:prstGeom prst="rect">
            <a:avLst/>
          </a:prstGeom>
        </p:spPr>
        <p:txBody>
          <a:bodyPr anchor="ctr">
            <a:normAutofit fontScale="4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IBM Confidential.</a:t>
            </a:r>
            <a:r>
              <a:rPr lang="en-US" sz="1000" baseline="0" dirty="0"/>
              <a:t> © Copyright International Business Machines Corporation 2017. All Rights Reserved. This document may not be copied distributed or reproduced in whole or in part without the prior written consent of IBM. </a:t>
            </a:r>
            <a:endParaRPr lang="en-US" sz="1000" dirty="0"/>
          </a:p>
        </p:txBody>
      </p:sp>
      <p:sp>
        <p:nvSpPr>
          <p:cNvPr id="12" name="Rectangle 5"/>
          <p:cNvSpPr>
            <a:spLocks noChangeArrowheads="1"/>
          </p:cNvSpPr>
          <p:nvPr userDrawn="1"/>
        </p:nvSpPr>
        <p:spPr bwMode="auto">
          <a:xfrm>
            <a:off x="388249" y="5618085"/>
            <a:ext cx="4106941" cy="571500"/>
          </a:xfrm>
          <a:prstGeom prst="rect">
            <a:avLst/>
          </a:prstGeom>
          <a:noFill/>
          <a:ln w="9525">
            <a:noFill/>
            <a:miter lim="800000"/>
            <a:headEnd/>
            <a:tailEnd/>
          </a:ln>
          <a:effectLst/>
        </p:spPr>
        <p:txBody>
          <a:bodyPr lIns="99443" tIns="49721" rIns="99443" bIns="49721" anchor="ctr"/>
          <a:lstStyle/>
          <a:p>
            <a:pPr algn="l" defTabSz="995363">
              <a:defRPr/>
            </a:pPr>
            <a:endParaRPr lang="en-US" altLang="zh-CN" sz="1100" dirty="0">
              <a:solidFill>
                <a:srgbClr val="336699"/>
              </a:solidFill>
              <a:latin typeface="Arial" charset="0"/>
              <a:cs typeface="Times New Roman" pitchFamily="18" charset="0"/>
            </a:endParaRPr>
          </a:p>
          <a:p>
            <a:pPr algn="l" defTabSz="995363">
              <a:defRPr/>
            </a:pPr>
            <a:endParaRPr lang="en-US" altLang="zh-CN" sz="1100" dirty="0">
              <a:solidFill>
                <a:srgbClr val="336699"/>
              </a:solidFill>
              <a:latin typeface="Arial" charset="0"/>
              <a:cs typeface="Times New Roman" pitchFamily="18" charset="0"/>
            </a:endParaRPr>
          </a:p>
          <a:p>
            <a:pPr algn="l" defTabSz="995363">
              <a:defRPr/>
            </a:pPr>
            <a:r>
              <a:rPr lang="en-GB" altLang="zh-CN" sz="1100" dirty="0">
                <a:solidFill>
                  <a:schemeClr val="bg1"/>
                </a:solidFill>
                <a:latin typeface="Arial" charset="0"/>
                <a:cs typeface="Times New Roman" pitchFamily="18" charset="0"/>
              </a:rPr>
              <a:t>IBM Professional Series: Architectural Thinking Workshop</a:t>
            </a:r>
          </a:p>
          <a:p>
            <a:pPr algn="l" defTabSz="995363">
              <a:defRPr/>
            </a:pPr>
            <a:r>
              <a:rPr lang="en-GB" altLang="zh-CN" sz="1100" dirty="0">
                <a:solidFill>
                  <a:schemeClr val="bg1"/>
                </a:solidFill>
                <a:latin typeface="Arial" charset="0"/>
                <a:cs typeface="Times New Roman" pitchFamily="18" charset="0"/>
              </a:rPr>
              <a:t>IBM Client Education                                         </a:t>
            </a:r>
            <a:r>
              <a:rPr lang="en-GB" altLang="zh-CN" sz="1100" dirty="0" smtClean="0">
                <a:solidFill>
                  <a:schemeClr val="bg1"/>
                </a:solidFill>
                <a:latin typeface="Arial" charset="0"/>
                <a:cs typeface="Times New Roman" pitchFamily="18" charset="0"/>
              </a:rPr>
              <a:t>	Version 7</a:t>
            </a:r>
            <a:endParaRPr lang="en-US" altLang="zh-CN" sz="1100" dirty="0">
              <a:solidFill>
                <a:schemeClr val="bg1"/>
              </a:solidFill>
              <a:latin typeface="Arial" charset="0"/>
              <a:cs typeface="Times New Roman" pitchFamily="18" charset="0"/>
            </a:endParaRPr>
          </a:p>
        </p:txBody>
      </p:sp>
    </p:spTree>
    <p:extLst>
      <p:ext uri="{BB962C8B-B14F-4D97-AF65-F5344CB8AC3E}">
        <p14:creationId xmlns:p14="http://schemas.microsoft.com/office/powerpoint/2010/main" val="2938133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120F24C3-0971-42A6-B67A-41EDE45D1426}"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pic>
        <p:nvPicPr>
          <p:cNvPr id="9"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304800" y="1144905"/>
            <a:ext cx="8510016" cy="4351338"/>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txBox="1">
            <a:spLocks/>
          </p:cNvSpPr>
          <p:nvPr userDrawn="1"/>
        </p:nvSpPr>
        <p:spPr>
          <a:xfrm>
            <a:off x="462665" y="6347340"/>
            <a:ext cx="2092372" cy="461300"/>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469104" y="6501400"/>
            <a:ext cx="5760495" cy="3219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2584184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6"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6BC43C53-7FE9-43C3-BDF3-A47FD404FFD9}"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sp>
        <p:nvSpPr>
          <p:cNvPr id="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1144903"/>
            <a:ext cx="4023360" cy="5074920"/>
          </a:xfrm>
          <a:noFill/>
          <a:ln w="9525">
            <a:noFill/>
            <a:miter lim="800000"/>
            <a:headEnd/>
            <a:tailEnd/>
          </a:ln>
        </p:spPr>
        <p:txBody>
          <a:bodyPr/>
          <a:lstStyle>
            <a:lvl1pPr marL="0" indent="-228600" algn="l" rtl="0" eaLnBrk="0" fontAlgn="base" hangingPunct="0">
              <a:lnSpc>
                <a:spcPct val="90000"/>
              </a:lnSpc>
              <a:spcAft>
                <a:spcPct val="0"/>
              </a:spcAft>
              <a:buClr>
                <a:srgbClr val="00669E"/>
              </a:buClr>
              <a:buFont typeface="Arial" pitchFamily="34" charset="0"/>
              <a:buChar char="•"/>
              <a:defRPr lang="en-US" sz="2800" kern="1200" dirty="0">
                <a:solidFill>
                  <a:schemeClr val="tx1"/>
                </a:solidFill>
                <a:latin typeface="Arial" panose="020B0604020202020204" pitchFamily="34" charset="0"/>
                <a:ea typeface="+mn-ea"/>
                <a:cs typeface="Arial" panose="020B0604020202020204" pitchFamily="34" charset="0"/>
              </a:defRPr>
            </a:lvl1pPr>
            <a:lvl2pPr marL="457200" indent="0">
              <a:buClr>
                <a:srgbClr val="00669E"/>
              </a:buClr>
              <a:buNone/>
              <a:defRPr sz="1800"/>
            </a:lvl2pPr>
            <a:lvl3pPr marL="914400" indent="0">
              <a:buClr>
                <a:srgbClr val="00669E"/>
              </a:buClr>
              <a:buNone/>
              <a:defRPr sz="1800"/>
            </a:lvl3pPr>
            <a:lvl4pPr marL="1371600" indent="0">
              <a:buClr>
                <a:srgbClr val="00669E"/>
              </a:buClr>
              <a:buNone/>
              <a:defRPr sz="1800"/>
            </a:lvl4pPr>
            <a:lvl5pPr marL="1828800" indent="0">
              <a:buClr>
                <a:srgbClr val="00669E"/>
              </a:buClr>
              <a:buNone/>
              <a:defRPr sz="1800"/>
            </a:lvl5pPr>
          </a:lstStyle>
          <a:p>
            <a:pPr lvl="0"/>
            <a:r>
              <a:rPr lang="en-US" dirty="0"/>
              <a:t>Edit Master text styles</a:t>
            </a:r>
          </a:p>
        </p:txBody>
      </p:sp>
      <p:sp>
        <p:nvSpPr>
          <p:cNvPr id="10" name="Text Placeholder 9"/>
          <p:cNvSpPr>
            <a:spLocks noGrp="1"/>
          </p:cNvSpPr>
          <p:nvPr>
            <p:ph type="body" sz="quarter" idx="10"/>
          </p:nvPr>
        </p:nvSpPr>
        <p:spPr>
          <a:xfrm>
            <a:off x="4464424" y="1143000"/>
            <a:ext cx="4023360" cy="5074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462665" y="6395719"/>
            <a:ext cx="2110767" cy="351031"/>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3" name="Subtitle 2"/>
          <p:cNvSpPr txBox="1">
            <a:spLocks/>
          </p:cNvSpPr>
          <p:nvPr userDrawn="1"/>
        </p:nvSpPr>
        <p:spPr>
          <a:xfrm>
            <a:off x="2486147" y="6501400"/>
            <a:ext cx="5811138" cy="244957"/>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425484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Rectangle 1"/>
          <p:cNvSpPr/>
          <p:nvPr userDrawn="1"/>
        </p:nvSpPr>
        <p:spPr>
          <a:xfrm>
            <a:off x="0" y="2814638"/>
            <a:ext cx="9144000" cy="1090612"/>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2375" y="2816225"/>
            <a:ext cx="10541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0"/>
            <a:ext cx="9144000" cy="1276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E4B09EAB-0DCA-4BCA-9996-798040E0742B}"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sp>
        <p:nvSpPr>
          <p:cNvPr id="9" name="object 3"/>
          <p:cNvSpPr txBox="1">
            <a:spLocks noChangeArrowheads="1"/>
          </p:cNvSpPr>
          <p:nvPr userDrawn="1"/>
        </p:nvSpPr>
        <p:spPr bwMode="auto">
          <a:xfrm>
            <a:off x="385763" y="4260850"/>
            <a:ext cx="79184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defRPr/>
            </a:pPr>
            <a:r>
              <a:rPr lang="en-US" sz="1000" dirty="0">
                <a:solidFill>
                  <a:srgbClr val="3F3F3F"/>
                </a:solidFill>
              </a:rPr>
              <a:t>IBM, the IBM logo, and ibm.com are trademarks or registered trademarks of International Business Machines Corporation in the United States, other countries, or both. If these and other IBM trademarked terms are marked on their first occurrence in this information with a trademark symbol (® or ™), these symbols indicate U.S. registered or common law trademarks owned by IBM at the time this information was published. Such trademarks may also be registered or common law trademarks in other countries. A current list of IBM trademarks is available on the Web at "</a:t>
            </a:r>
            <a:r>
              <a:rPr lang="en-US" sz="1000" dirty="0">
                <a:solidFill>
                  <a:srgbClr val="3F3F3F"/>
                </a:solidFill>
                <a:hlinkClick r:id="rId4"/>
              </a:rPr>
              <a:t>Copyright and trademark information</a:t>
            </a:r>
            <a:r>
              <a:rPr lang="en-US" sz="1000" dirty="0">
                <a:solidFill>
                  <a:srgbClr val="3F3F3F"/>
                </a:solidFill>
              </a:rPr>
              <a:t>.“ Java and all Java-based trademarks and logos are trademarks or registered trademarks of Oracle and its affiliates.</a:t>
            </a:r>
          </a:p>
          <a:p>
            <a:pPr>
              <a:defRPr/>
            </a:pPr>
            <a:endParaRPr lang="en-US" sz="1000" dirty="0">
              <a:solidFill>
                <a:srgbClr val="3F3F3F"/>
              </a:solidFill>
            </a:endParaRPr>
          </a:p>
          <a:p>
            <a:pPr>
              <a:defRPr/>
            </a:pPr>
            <a:r>
              <a:rPr lang="en-US" sz="1000" dirty="0">
                <a:solidFill>
                  <a:srgbClr val="3F3F3F"/>
                </a:solidFill>
              </a:rPr>
              <a:t>Linux is a trademark of Linus Torvalds in the United States, or other countries, or both. Microsoft, Excel, PowerPoint, Project, Visio, Word, and Windows are trademarks of the Microsoft Corporation in the United States, other countries, or both. UML is a registered trademark of Object Management Group, Inc. in the United States and/or other countries. TOGAF and UNIX are registered trademarks of The Open Group in the United States and other countries. Other company, product, and service names may be trademarks of IBM or other companies. </a:t>
            </a:r>
            <a:r>
              <a:rPr lang="en-US" altLang="en-US" sz="1000" dirty="0">
                <a:solidFill>
                  <a:srgbClr val="3F3F3F"/>
                </a:solidFill>
                <a:cs typeface="Arial" panose="020B0604020202020204" pitchFamily="34" charset="0"/>
              </a:rPr>
              <a:t>Citrix is a trademark of Citrix Systems, Inc. and one or more of its subsidiaries, and may be registered in the United States Patent and Trademark Office and in other countries. </a:t>
            </a:r>
          </a:p>
        </p:txBody>
      </p:sp>
      <p:sp>
        <p:nvSpPr>
          <p:cNvPr id="10" name="Footer Placeholder 4"/>
          <p:cNvSpPr txBox="1">
            <a:spLocks/>
          </p:cNvSpPr>
          <p:nvPr userDrawn="1"/>
        </p:nvSpPr>
        <p:spPr>
          <a:xfrm>
            <a:off x="462665" y="6391276"/>
            <a:ext cx="2103211" cy="439297"/>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545354" y="6540494"/>
            <a:ext cx="5790336" cy="306551"/>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56558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Rectangle 2"/>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96250"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IBM Confidential © IBM Corporation 2016</a:t>
            </a:r>
            <a:endParaRPr lang="zh-CN" altLang="en-US" b="0" dirty="0"/>
          </a:p>
        </p:txBody>
      </p:sp>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9CF228AE-2855-447A-85C2-86445119C96C}"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dirty="0">
              <a:solidFill>
                <a:srgbClr val="003E68"/>
              </a:solidFill>
              <a:ea typeface="SimSun" panose="02010600030101010101" pitchFamily="2" charset="-122"/>
              <a:cs typeface="Arial" panose="020B0604020202020204" pitchFamily="34" charset="0"/>
            </a:endParaRPr>
          </a:p>
        </p:txBody>
      </p:sp>
      <p:sp>
        <p:nvSpPr>
          <p:cNvPr id="8"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Architectural Thinking</a:t>
            </a:r>
            <a:endParaRPr lang="zh-CN" altLang="en-US" b="0" dirty="0"/>
          </a:p>
        </p:txBody>
      </p:sp>
      <p:sp>
        <p:nvSpPr>
          <p:cNvPr id="1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565149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ext Box 3"/>
          <p:cNvSpPr txBox="1">
            <a:spLocks noChangeArrowheads="1"/>
          </p:cNvSpPr>
          <p:nvPr userDrawn="1"/>
        </p:nvSpPr>
        <p:spPr bwMode="auto">
          <a:xfrm>
            <a:off x="3113088" y="1655763"/>
            <a:ext cx="2743200" cy="430212"/>
          </a:xfrm>
          <a:prstGeom prst="rect">
            <a:avLst/>
          </a:prstGeom>
          <a:solidFill>
            <a:srgbClr val="FFFF00"/>
          </a:solidFill>
          <a:ln w="12700">
            <a:solidFill>
              <a:srgbClr val="000000"/>
            </a:solidFill>
            <a:miter lim="800000"/>
            <a:headEnd type="none" w="sm" len="sm"/>
            <a:tailEnd type="none" w="sm" len="sm"/>
          </a:ln>
        </p:spPr>
        <p:txBody>
          <a:bodyPr wrap="none" lIns="82048" tIns="41025" rIns="82048" bIns="41025">
            <a:spAutoFit/>
          </a:bodyPr>
          <a:lstStyle>
            <a:lvl1pPr defTabSz="800100">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defTabSz="80010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defTabSz="8001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eaLnBrk="1" hangingPunct="1">
              <a:lnSpc>
                <a:spcPct val="100000"/>
              </a:lnSpc>
              <a:spcBef>
                <a:spcPct val="0"/>
              </a:spcBef>
              <a:buFontTx/>
              <a:buNone/>
              <a:defRPr/>
            </a:pPr>
            <a:r>
              <a:rPr lang="en-US" altLang="en-US" sz="2200" dirty="0">
                <a:cs typeface="Times New Roman" panose="02020603050405020304" pitchFamily="18" charset="0"/>
              </a:rPr>
              <a:t>Time for a question</a:t>
            </a:r>
          </a:p>
        </p:txBody>
      </p:sp>
      <p:pic>
        <p:nvPicPr>
          <p:cNvPr id="5" name="Picture 7"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0" y="1335088"/>
            <a:ext cx="62706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43600" y="1352550"/>
            <a:ext cx="625475"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IBM Confidential © IBM Corporation 2016</a:t>
            </a:r>
            <a:endParaRPr lang="zh-CN" altLang="en-US" b="0" dirty="0"/>
          </a:p>
        </p:txBody>
      </p:sp>
      <p:sp>
        <p:nvSpPr>
          <p:cNvPr id="9"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09A5C983-DAB8-45FE-987B-310B73F5D5D6}"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dirty="0">
              <a:solidFill>
                <a:srgbClr val="003E68"/>
              </a:solidFill>
              <a:ea typeface="SimSun" panose="02010600030101010101" pitchFamily="2" charset="-122"/>
              <a:cs typeface="Arial" panose="020B0604020202020204" pitchFamily="34" charset="0"/>
            </a:endParaRPr>
          </a:p>
        </p:txBody>
      </p:sp>
      <p:sp>
        <p:nvSpPr>
          <p:cNvPr id="10"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Architectural Thinking</a:t>
            </a:r>
            <a:endParaRPr lang="zh-CN" altLang="en-US" b="0" dirty="0"/>
          </a:p>
        </p:txBody>
      </p:sp>
      <p:sp>
        <p:nvSpPr>
          <p:cNvPr id="11" name="Rectangle 10"/>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2" name="Picture 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20040" y="2651760"/>
            <a:ext cx="8510016" cy="3453205"/>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1618246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endParaRPr lang="en-US"/>
          </a:p>
        </p:txBody>
      </p:sp>
      <p:sp>
        <p:nvSpPr>
          <p:cNvPr id="5" name="Footer Placeholder 4"/>
          <p:cNvSpPr>
            <a:spLocks noGrp="1"/>
          </p:cNvSpPr>
          <p:nvPr>
            <p:ph type="ftr" sz="quarter" idx="3"/>
          </p:nvPr>
        </p:nvSpPr>
        <p:spPr>
          <a:xfrm>
            <a:off x="3028950" y="6356350"/>
            <a:ext cx="3271838"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r>
              <a:rPr lang="en-US"/>
              <a:t>IBM Confidential © IBM Corporation 2016</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5345D543-54FB-49FE-B665-0951EF8B5661}" type="slidenum">
              <a:rPr lang="en-US" altLang="en-US"/>
              <a:pPr>
                <a:defRPr/>
              </a:pPr>
              <a:t>‹#›</a:t>
            </a:fld>
            <a:endParaRPr lang="en-US" altLang="en-US"/>
          </a:p>
        </p:txBody>
      </p:sp>
    </p:spTree>
    <p:custDataLst>
      <p:tags r:id="rId8"/>
    </p:custDataLst>
  </p:cSld>
  <p:clrMap bg1="lt1" tx1="dk1" bg2="lt2" tx2="dk2" accent1="accent1" accent2="accent2" accent3="accent3" accent4="accent4" accent5="accent5" accent6="accent6" hlink="hlink" folHlink="folHlink"/>
  <p:sldLayoutIdLst>
    <p:sldLayoutId id="2147484539" r:id="rId1"/>
    <p:sldLayoutId id="2147484540" r:id="rId2"/>
    <p:sldLayoutId id="2147484541" r:id="rId3"/>
    <p:sldLayoutId id="2147484542" r:id="rId4"/>
    <p:sldLayoutId id="2147484543" r:id="rId5"/>
    <p:sldLayoutId id="2147484544" r:id="rId6"/>
  </p:sldLayoutIdLst>
  <p:hf hdr="0" dt="0"/>
  <p:txStyles>
    <p:titleStyle>
      <a:lvl1pPr algn="l" rtl="0" eaLnBrk="0" fontAlgn="base" hangingPunct="0">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309563" y="4986338"/>
            <a:ext cx="6797675" cy="785812"/>
          </a:xfrm>
        </p:spPr>
        <p:txBody>
          <a:bodyPr>
            <a:normAutofit fontScale="90000"/>
          </a:bodyPr>
          <a:lstStyle/>
          <a:p>
            <a:pPr eaLnBrk="1" hangingPunct="1">
              <a:defRPr/>
            </a:pPr>
            <a:r>
              <a:rPr lang="en-US" altLang="zh-CN" sz="2800" dirty="0"/>
              <a:t>Exercise 3: Component Modeling</a:t>
            </a:r>
            <a:br>
              <a:rPr lang="en-US" altLang="zh-CN" sz="2800" dirty="0"/>
            </a:br>
            <a:r>
              <a:rPr lang="en-US" altLang="zh-CN" sz="2800" dirty="0"/>
              <a:t>(Exercise Description)</a:t>
            </a:r>
            <a:endParaRPr lang="zh-CN" altLang="en-US" sz="2800" dirty="0">
              <a:latin typeface="IBMHelvCondBold"/>
              <a:cs typeface="等线 Light"/>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04800" y="0"/>
            <a:ext cx="6954838" cy="777875"/>
          </a:xfrm>
        </p:spPr>
        <p:txBody>
          <a:bodyPr/>
          <a:lstStyle/>
          <a:p>
            <a:pPr eaLnBrk="1" hangingPunct="1"/>
            <a:r>
              <a:rPr lang="en-GB" altLang="en-US"/>
              <a:t>Exercise 3: Component Modeling</a:t>
            </a:r>
          </a:p>
        </p:txBody>
      </p:sp>
      <p:sp>
        <p:nvSpPr>
          <p:cNvPr id="15363" name="Rectangle 3"/>
          <p:cNvSpPr>
            <a:spLocks noGrp="1" noChangeArrowheads="1"/>
          </p:cNvSpPr>
          <p:nvPr>
            <p:ph idx="1"/>
          </p:nvPr>
        </p:nvSpPr>
        <p:spPr>
          <a:xfrm>
            <a:off x="304800" y="894270"/>
            <a:ext cx="8510588" cy="5241925"/>
          </a:xfrm>
        </p:spPr>
        <p:txBody>
          <a:bodyPr>
            <a:noAutofit/>
          </a:bodyPr>
          <a:lstStyle/>
          <a:p>
            <a:pPr marL="0" indent="0" eaLnBrk="1" hangingPunct="1">
              <a:lnSpc>
                <a:spcPct val="100000"/>
              </a:lnSpc>
              <a:spcBef>
                <a:spcPts val="600"/>
              </a:spcBef>
              <a:buFont typeface="Wingdings" panose="05000000000000000000" pitchFamily="2" charset="2"/>
              <a:buNone/>
              <a:defRPr/>
            </a:pPr>
            <a:r>
              <a:rPr lang="en-US" altLang="en-US" dirty="0"/>
              <a:t>During this exercise we will review your logical component model’s structural and behavioral views.</a:t>
            </a:r>
          </a:p>
          <a:p>
            <a:pPr eaLnBrk="1" hangingPunct="1">
              <a:spcBef>
                <a:spcPts val="600"/>
              </a:spcBef>
              <a:buFont typeface="Wingdings" panose="05000000000000000000" pitchFamily="2" charset="2"/>
              <a:buNone/>
              <a:defRPr/>
            </a:pPr>
            <a:endParaRPr lang="en-US" altLang="en-US" dirty="0"/>
          </a:p>
          <a:p>
            <a:pPr eaLnBrk="1" hangingPunct="1">
              <a:spcBef>
                <a:spcPts val="600"/>
              </a:spcBef>
              <a:buFont typeface="Wingdings" panose="05000000000000000000" pitchFamily="2" charset="2"/>
              <a:buNone/>
              <a:defRPr/>
            </a:pPr>
            <a:r>
              <a:rPr lang="en-US" altLang="en-US" dirty="0"/>
              <a:t>We are giving you:</a:t>
            </a:r>
          </a:p>
          <a:p>
            <a:pPr marL="285750" lvl="1" indent="-285750" eaLnBrk="1" hangingPunct="1">
              <a:lnSpc>
                <a:spcPct val="100000"/>
              </a:lnSpc>
              <a:spcBef>
                <a:spcPts val="600"/>
              </a:spcBef>
              <a:buFont typeface="Wingdings" panose="05000000000000000000" pitchFamily="2" charset="2"/>
              <a:buChar char="§"/>
              <a:defRPr/>
            </a:pPr>
            <a:r>
              <a:rPr lang="en-US" altLang="en-US" dirty="0"/>
              <a:t>Two use cases (see next slide)</a:t>
            </a:r>
          </a:p>
          <a:p>
            <a:pPr marL="228600" lvl="2" eaLnBrk="1" hangingPunct="1">
              <a:spcBef>
                <a:spcPts val="600"/>
              </a:spcBef>
              <a:buFont typeface="Wingdings" panose="05000000000000000000" pitchFamily="2" charset="2"/>
              <a:buAutoNum type="alphaLcPeriod"/>
              <a:defRPr/>
            </a:pPr>
            <a:endParaRPr lang="en-US" altLang="en-US" dirty="0"/>
          </a:p>
          <a:p>
            <a:pPr eaLnBrk="1" hangingPunct="1">
              <a:spcBef>
                <a:spcPts val="600"/>
              </a:spcBef>
              <a:buFont typeface="Wingdings" panose="05000000000000000000" pitchFamily="2" charset="2"/>
              <a:buNone/>
              <a:defRPr/>
            </a:pPr>
            <a:r>
              <a:rPr lang="en-US" altLang="en-US" dirty="0">
                <a:cs typeface="Times New Roman" panose="02020603050405020304" pitchFamily="18" charset="0"/>
              </a:rPr>
              <a:t>We want you to:</a:t>
            </a:r>
          </a:p>
          <a:p>
            <a:pPr marL="285750" lvl="1" indent="-285750" eaLnBrk="1" hangingPunct="1">
              <a:spcBef>
                <a:spcPts val="600"/>
              </a:spcBef>
              <a:buFont typeface="Wingdings" panose="05000000000000000000" pitchFamily="2" charset="2"/>
              <a:buChar char="§"/>
              <a:defRPr/>
            </a:pPr>
            <a:r>
              <a:rPr lang="en-US" altLang="en-US" dirty="0">
                <a:cs typeface="Times New Roman" panose="02020603050405020304" pitchFamily="18" charset="0"/>
              </a:rPr>
              <a:t>Create the structural view (relationship diagram)</a:t>
            </a:r>
          </a:p>
          <a:p>
            <a:pPr marL="285750" lvl="1" indent="-285750" eaLnBrk="1" hangingPunct="1">
              <a:spcBef>
                <a:spcPts val="600"/>
              </a:spcBef>
              <a:buFont typeface="Wingdings" panose="05000000000000000000" pitchFamily="2" charset="2"/>
              <a:buChar char="§"/>
              <a:defRPr/>
            </a:pPr>
            <a:r>
              <a:rPr lang="en-US" altLang="en-US" dirty="0">
                <a:cs typeface="Times New Roman" panose="02020603050405020304" pitchFamily="18" charset="0"/>
              </a:rPr>
              <a:t>Document the responsibilities of the components you’ve added to the model</a:t>
            </a:r>
          </a:p>
          <a:p>
            <a:pPr marL="285750" lvl="1" indent="-285750" eaLnBrk="1" hangingPunct="1">
              <a:spcBef>
                <a:spcPts val="600"/>
              </a:spcBef>
              <a:buFont typeface="Wingdings" panose="05000000000000000000" pitchFamily="2" charset="2"/>
              <a:buChar char="§"/>
              <a:defRPr/>
            </a:pPr>
            <a:r>
              <a:rPr lang="en-US" altLang="en-US" dirty="0">
                <a:cs typeface="Times New Roman" panose="02020603050405020304" pitchFamily="18" charset="0"/>
              </a:rPr>
              <a:t>Create two behavioral views (sequence diagrams) for the use cases given to you</a:t>
            </a:r>
          </a:p>
          <a:p>
            <a:pPr marL="0" lvl="1" indent="0" eaLnBrk="1" hangingPunct="1">
              <a:spcBef>
                <a:spcPts val="600"/>
              </a:spcBef>
              <a:buNone/>
              <a:defRPr/>
            </a:pPr>
            <a:endParaRPr lang="en-US" altLang="en-US" dirty="0">
              <a:cs typeface="Times New Roman" panose="02020603050405020304" pitchFamily="18" charset="0"/>
            </a:endParaRPr>
          </a:p>
          <a:p>
            <a:pPr marL="0" lvl="1" indent="0" eaLnBrk="1" hangingPunct="1">
              <a:spcBef>
                <a:spcPts val="600"/>
              </a:spcBef>
              <a:buNone/>
              <a:defRPr/>
            </a:pPr>
            <a:r>
              <a:rPr lang="en-US" altLang="en-US" dirty="0">
                <a:cs typeface="Times New Roman" panose="02020603050405020304" pitchFamily="18" charset="0"/>
              </a:rPr>
              <a:t>Refer to AT_CS01 </a:t>
            </a:r>
            <a:r>
              <a:rPr lang="en-US" altLang="en-US">
                <a:cs typeface="Times New Roman" panose="02020603050405020304" pitchFamily="18" charset="0"/>
              </a:rPr>
              <a:t>Model Answer Requirements </a:t>
            </a:r>
            <a:r>
              <a:rPr lang="en-US" altLang="en-US" dirty="0">
                <a:cs typeface="Times New Roman" panose="02020603050405020304" pitchFamily="18" charset="0"/>
              </a:rPr>
              <a:t>Specification for more details on the use cases.</a:t>
            </a:r>
          </a:p>
          <a:p>
            <a:pPr marL="0" lvl="1" indent="0" eaLnBrk="1" hangingPunct="1">
              <a:spcBef>
                <a:spcPts val="600"/>
              </a:spcBef>
              <a:buNone/>
              <a:defRPr/>
            </a:pPr>
            <a:endParaRPr lang="en-US" altLang="en-US" dirty="0">
              <a:cs typeface="Times New Roman" panose="02020603050405020304" pitchFamily="18" charset="0"/>
            </a:endParaRPr>
          </a:p>
          <a:p>
            <a:pPr eaLnBrk="1" hangingPunct="1">
              <a:spcBef>
                <a:spcPts val="600"/>
              </a:spcBef>
              <a:buFont typeface="Wingdings" panose="05000000000000000000" pitchFamily="2" charset="2"/>
              <a:buNone/>
              <a:defRPr/>
            </a:pPr>
            <a:r>
              <a:rPr lang="en-US" altLang="en-US" dirty="0">
                <a:cs typeface="Times New Roman" panose="02020603050405020304" pitchFamily="18" charset="0"/>
              </a:rPr>
              <a:t>Be ready with:</a:t>
            </a:r>
          </a:p>
          <a:p>
            <a:pPr marL="285750" lvl="1" indent="-285750" eaLnBrk="1" hangingPunct="1">
              <a:spcBef>
                <a:spcPts val="600"/>
              </a:spcBef>
              <a:buFont typeface="Wingdings" panose="05000000000000000000" pitchFamily="2" charset="2"/>
              <a:buChar char="§"/>
              <a:defRPr/>
            </a:pPr>
            <a:r>
              <a:rPr lang="en-US" altLang="en-US" dirty="0">
                <a:cs typeface="Times New Roman" panose="02020603050405020304" pitchFamily="18" charset="0"/>
              </a:rPr>
              <a:t>A completed logical component relationship diagrams</a:t>
            </a:r>
          </a:p>
          <a:p>
            <a:pPr marL="742950" lvl="2" indent="-285750" eaLnBrk="1" hangingPunct="1">
              <a:spcBef>
                <a:spcPts val="600"/>
              </a:spcBef>
              <a:defRPr/>
            </a:pPr>
            <a:r>
              <a:rPr lang="en-US" altLang="en-US" dirty="0">
                <a:cs typeface="Times New Roman" panose="02020603050405020304" pitchFamily="18" charset="0"/>
              </a:rPr>
              <a:t>Logical actors connected to “edge” components, which</a:t>
            </a:r>
            <a:r>
              <a:rPr lang="en-GB" altLang="en-US" dirty="0">
                <a:cs typeface="Times New Roman" panose="02020603050405020304" pitchFamily="18" charset="0"/>
              </a:rPr>
              <a:t> are connected to the other components in the system (so that information can flow between components)</a:t>
            </a:r>
          </a:p>
          <a:p>
            <a:pPr marL="285750" lvl="1" indent="-285750" eaLnBrk="1" hangingPunct="1">
              <a:lnSpc>
                <a:spcPct val="100000"/>
              </a:lnSpc>
              <a:spcBef>
                <a:spcPts val="600"/>
              </a:spcBef>
              <a:buFont typeface="Wingdings" panose="05000000000000000000" pitchFamily="2" charset="2"/>
              <a:buChar char="§"/>
              <a:defRPr/>
            </a:pPr>
            <a:r>
              <a:rPr lang="en-GB" altLang="en-US" dirty="0">
                <a:cs typeface="Times New Roman" panose="02020603050405020304" pitchFamily="18" charset="0"/>
              </a:rPr>
              <a:t>Some thoughts on the responsibilities of the components you’ve added to the component model</a:t>
            </a:r>
          </a:p>
          <a:p>
            <a:pPr marL="742950" lvl="2" indent="-285750" eaLnBrk="1" hangingPunct="1">
              <a:lnSpc>
                <a:spcPct val="100000"/>
              </a:lnSpc>
              <a:spcBef>
                <a:spcPts val="600"/>
              </a:spcBef>
              <a:defRPr/>
            </a:pPr>
            <a:r>
              <a:rPr lang="en-GB" altLang="en-US" dirty="0">
                <a:cs typeface="Times New Roman" panose="02020603050405020304" pitchFamily="18" charset="0"/>
              </a:rPr>
              <a:t>And if you have time, maybe something about their interfaces, methods, and attributes</a:t>
            </a:r>
          </a:p>
          <a:p>
            <a:pPr marL="285750" lvl="1" indent="-285750" eaLnBrk="1" hangingPunct="1">
              <a:spcBef>
                <a:spcPts val="600"/>
              </a:spcBef>
              <a:buFont typeface="Wingdings" panose="05000000000000000000" pitchFamily="2" charset="2"/>
              <a:buChar char="§"/>
              <a:defRPr/>
            </a:pPr>
            <a:r>
              <a:rPr lang="en-US" altLang="en-US" dirty="0">
                <a:cs typeface="Times New Roman" panose="02020603050405020304" pitchFamily="18" charset="0"/>
              </a:rPr>
              <a:t>Two completed sequence diagrams</a:t>
            </a:r>
          </a:p>
          <a:p>
            <a:pPr marL="742950" lvl="2" indent="-285750" eaLnBrk="1" hangingPunct="1">
              <a:spcBef>
                <a:spcPts val="600"/>
              </a:spcBef>
              <a:defRPr/>
            </a:pPr>
            <a:r>
              <a:rPr lang="en-US" altLang="en-US" dirty="0">
                <a:cs typeface="Times New Roman" panose="02020603050405020304" pitchFamily="18" charset="0"/>
              </a:rPr>
              <a:t>Logical actors interacting with “edge” components, which are also interacting with the other components in the system</a:t>
            </a:r>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0"/>
            <a:ext cx="6954838" cy="777875"/>
          </a:xfrm>
        </p:spPr>
        <p:txBody>
          <a:bodyPr/>
          <a:lstStyle/>
          <a:p>
            <a:pPr eaLnBrk="1" hangingPunct="1"/>
            <a:r>
              <a:rPr lang="en-GB" altLang="en-US"/>
              <a:t>Exercise 3: Component Modeling – Use Cases in Scope</a:t>
            </a:r>
          </a:p>
        </p:txBody>
      </p:sp>
      <p:sp>
        <p:nvSpPr>
          <p:cNvPr id="14339" name="Rectangle 3"/>
          <p:cNvSpPr>
            <a:spLocks noGrp="1" noChangeArrowheads="1"/>
          </p:cNvSpPr>
          <p:nvPr>
            <p:ph idx="1"/>
          </p:nvPr>
        </p:nvSpPr>
        <p:spPr>
          <a:xfrm>
            <a:off x="304800" y="1144588"/>
            <a:ext cx="8510588" cy="5588000"/>
          </a:xfrm>
        </p:spPr>
        <p:txBody>
          <a:bodyPr/>
          <a:lstStyle/>
          <a:p>
            <a:pPr marL="285750" lvl="1" indent="-285750" eaLnBrk="1" hangingPunct="1">
              <a:lnSpc>
                <a:spcPct val="80000"/>
              </a:lnSpc>
              <a:spcBef>
                <a:spcPts val="100"/>
              </a:spcBef>
              <a:buFont typeface="Wingdings" panose="05000000000000000000" pitchFamily="2" charset="2"/>
              <a:buChar char="§"/>
            </a:pPr>
            <a:endParaRPr lang="en-GB" altLang="en-US" sz="1600" b="1"/>
          </a:p>
          <a:p>
            <a:pPr marL="285750" lvl="1" indent="-285750" eaLnBrk="1" hangingPunct="1">
              <a:lnSpc>
                <a:spcPct val="80000"/>
              </a:lnSpc>
              <a:spcBef>
                <a:spcPts val="100"/>
              </a:spcBef>
              <a:buFont typeface="Wingdings" panose="05000000000000000000" pitchFamily="2" charset="2"/>
              <a:buChar char="§"/>
            </a:pPr>
            <a:r>
              <a:rPr lang="en-GB" altLang="en-US" sz="1600" b="1"/>
              <a:t>Use Case: UC_01 Logon</a:t>
            </a:r>
          </a:p>
          <a:p>
            <a:pPr marL="742950" lvl="2" indent="-285750" eaLnBrk="1" hangingPunct="1">
              <a:lnSpc>
                <a:spcPct val="80000"/>
              </a:lnSpc>
              <a:spcBef>
                <a:spcPts val="100"/>
              </a:spcBef>
            </a:pPr>
            <a:r>
              <a:rPr lang="en-GB" altLang="en-US" sz="1600"/>
              <a:t>Initiating actor:	Respondent</a:t>
            </a:r>
          </a:p>
          <a:p>
            <a:pPr marL="742950" lvl="2" indent="-285750" eaLnBrk="1" hangingPunct="1">
              <a:lnSpc>
                <a:spcPct val="80000"/>
              </a:lnSpc>
              <a:spcBef>
                <a:spcPts val="100"/>
              </a:spcBef>
            </a:pPr>
            <a:r>
              <a:rPr lang="en-GB" altLang="en-US" sz="1600"/>
              <a:t>Supporting actors:	None</a:t>
            </a:r>
            <a:br>
              <a:rPr lang="en-GB" altLang="en-US" sz="1600"/>
            </a:br>
            <a:endParaRPr lang="en-GB" altLang="en-US" sz="1600"/>
          </a:p>
          <a:p>
            <a:pPr marL="742950" lvl="2" indent="-285750" eaLnBrk="1" hangingPunct="1">
              <a:lnSpc>
                <a:spcPct val="80000"/>
              </a:lnSpc>
              <a:spcBef>
                <a:spcPts val="100"/>
              </a:spcBef>
            </a:pPr>
            <a:r>
              <a:rPr lang="en-GB" altLang="en-US" sz="1600"/>
              <a:t>Main scenario:</a:t>
            </a:r>
          </a:p>
          <a:p>
            <a:pPr marL="1200150" lvl="3" indent="-285750" eaLnBrk="1" hangingPunct="1">
              <a:lnSpc>
                <a:spcPct val="80000"/>
              </a:lnSpc>
              <a:spcBef>
                <a:spcPts val="100"/>
              </a:spcBef>
              <a:buFont typeface="Arial" panose="020B0604020202020204" pitchFamily="34" charset="0"/>
              <a:buChar char="–"/>
            </a:pPr>
            <a:r>
              <a:rPr lang="en-GB" altLang="en-US" sz="1600"/>
              <a:t>Actor 		Request logon page by providing URL (or using bookmark)</a:t>
            </a:r>
          </a:p>
          <a:p>
            <a:pPr marL="1200150" lvl="3" indent="-285750" eaLnBrk="1" hangingPunct="1">
              <a:lnSpc>
                <a:spcPct val="80000"/>
              </a:lnSpc>
              <a:spcBef>
                <a:spcPts val="100"/>
              </a:spcBef>
              <a:buFont typeface="Arial" panose="020B0604020202020204" pitchFamily="34" charset="0"/>
              <a:buChar char="–"/>
            </a:pPr>
            <a:r>
              <a:rPr lang="en-GB" altLang="en-US" sz="1600"/>
              <a:t>System 	Displays the Logon page</a:t>
            </a:r>
          </a:p>
          <a:p>
            <a:pPr marL="1200150" lvl="3" indent="-285750" eaLnBrk="1" hangingPunct="1">
              <a:lnSpc>
                <a:spcPct val="80000"/>
              </a:lnSpc>
              <a:spcBef>
                <a:spcPts val="100"/>
              </a:spcBef>
              <a:buFont typeface="Arial" panose="020B0604020202020204" pitchFamily="34" charset="0"/>
              <a:buChar char="–"/>
            </a:pPr>
            <a:r>
              <a:rPr lang="en-GB" altLang="en-US" sz="1600"/>
              <a:t>Actor 		Enters CFN, eCN and presses the “Logon” button</a:t>
            </a:r>
          </a:p>
          <a:p>
            <a:pPr marL="1200150" lvl="3" indent="-285750" eaLnBrk="1" hangingPunct="1">
              <a:lnSpc>
                <a:spcPct val="80000"/>
              </a:lnSpc>
              <a:spcBef>
                <a:spcPts val="100"/>
              </a:spcBef>
              <a:buFont typeface="Arial" panose="020B0604020202020204" pitchFamily="34" charset="0"/>
              <a:buChar char="–"/>
            </a:pPr>
            <a:r>
              <a:rPr lang="en-GB" altLang="en-US" sz="1600"/>
              <a:t>System 	Verifies the provided credentials</a:t>
            </a:r>
            <a:br>
              <a:rPr lang="en-GB" altLang="en-US" sz="1600"/>
            </a:br>
            <a:r>
              <a:rPr lang="en-GB" altLang="en-US" sz="1600"/>
              <a:t>		If valid, renders the initial section page</a:t>
            </a:r>
            <a:br>
              <a:rPr lang="en-GB" altLang="en-US" sz="1600"/>
            </a:br>
            <a:r>
              <a:rPr lang="en-GB" altLang="en-US" sz="1600"/>
              <a:t>		If invalid, displays the error message, offers to re-enter 			credentials</a:t>
            </a:r>
          </a:p>
          <a:p>
            <a:pPr marL="1200150" lvl="3" indent="-285750" eaLnBrk="1" hangingPunct="1">
              <a:lnSpc>
                <a:spcPct val="80000"/>
              </a:lnSpc>
              <a:spcBef>
                <a:spcPts val="100"/>
              </a:spcBef>
              <a:buFont typeface="Arial" panose="020B0604020202020204" pitchFamily="34" charset="0"/>
              <a:buChar char="–"/>
            </a:pPr>
            <a:endParaRPr lang="en-GB" altLang="en-US" sz="1600"/>
          </a:p>
          <a:p>
            <a:pPr marL="285750" lvl="1" indent="-285750" eaLnBrk="1" hangingPunct="1">
              <a:lnSpc>
                <a:spcPct val="80000"/>
              </a:lnSpc>
              <a:spcBef>
                <a:spcPts val="100"/>
              </a:spcBef>
              <a:buFont typeface="Wingdings" panose="05000000000000000000" pitchFamily="2" charset="2"/>
              <a:buChar char="§"/>
            </a:pPr>
            <a:endParaRPr lang="en-GB" altLang="en-US" sz="1600" b="1"/>
          </a:p>
          <a:p>
            <a:pPr marL="285750" lvl="1" indent="-285750" eaLnBrk="1" hangingPunct="1">
              <a:lnSpc>
                <a:spcPct val="80000"/>
              </a:lnSpc>
              <a:spcBef>
                <a:spcPts val="100"/>
              </a:spcBef>
              <a:buFont typeface="Wingdings" panose="05000000000000000000" pitchFamily="2" charset="2"/>
              <a:buChar char="§"/>
            </a:pPr>
            <a:r>
              <a:rPr lang="en-GB" altLang="en-US" sz="1600" b="1"/>
              <a:t>Use Case: </a:t>
            </a:r>
            <a:r>
              <a:rPr lang="en-AU" altLang="en-US" sz="1600" b="1"/>
              <a:t>UC_12 Submit Form (from mobile device)</a:t>
            </a:r>
            <a:endParaRPr lang="en-GB" altLang="en-US" sz="1600" b="1"/>
          </a:p>
          <a:p>
            <a:pPr marL="742950" lvl="2" indent="-285750" eaLnBrk="1" hangingPunct="1">
              <a:lnSpc>
                <a:spcPct val="80000"/>
              </a:lnSpc>
              <a:spcBef>
                <a:spcPts val="100"/>
              </a:spcBef>
            </a:pPr>
            <a:r>
              <a:rPr lang="en-GB" altLang="en-US" sz="1600"/>
              <a:t>Initiating actor:	Respondent</a:t>
            </a:r>
          </a:p>
          <a:p>
            <a:pPr marL="742950" lvl="2" indent="-285750" eaLnBrk="1" hangingPunct="1">
              <a:lnSpc>
                <a:spcPct val="80000"/>
              </a:lnSpc>
              <a:spcBef>
                <a:spcPts val="100"/>
              </a:spcBef>
            </a:pPr>
            <a:r>
              <a:rPr lang="en-GB" altLang="en-US" sz="1600"/>
              <a:t>Supporting actors:	None</a:t>
            </a:r>
          </a:p>
          <a:p>
            <a:pPr marL="742950" lvl="2" indent="-285750" eaLnBrk="1" hangingPunct="1">
              <a:lnSpc>
                <a:spcPct val="80000"/>
              </a:lnSpc>
              <a:spcBef>
                <a:spcPts val="100"/>
              </a:spcBef>
            </a:pPr>
            <a:endParaRPr lang="en-GB" altLang="en-US" sz="1600"/>
          </a:p>
          <a:p>
            <a:pPr marL="742950" lvl="2" indent="-285750" eaLnBrk="1" hangingPunct="1">
              <a:lnSpc>
                <a:spcPct val="80000"/>
              </a:lnSpc>
              <a:spcBef>
                <a:spcPts val="100"/>
              </a:spcBef>
            </a:pPr>
            <a:r>
              <a:rPr lang="en-GB" altLang="en-US" sz="1600"/>
              <a:t>Main scenario:</a:t>
            </a:r>
          </a:p>
          <a:p>
            <a:pPr marL="1200150" lvl="3" indent="-285750" eaLnBrk="1" hangingPunct="1">
              <a:lnSpc>
                <a:spcPct val="80000"/>
              </a:lnSpc>
              <a:spcBef>
                <a:spcPts val="100"/>
              </a:spcBef>
              <a:buFont typeface="Arial" panose="020B0604020202020204" pitchFamily="34" charset="0"/>
              <a:buChar char="–"/>
            </a:pPr>
            <a:r>
              <a:rPr lang="en-GB" altLang="en-US" sz="1600"/>
              <a:t>Actor: 		Submits form by pressing the “Submit Form” button</a:t>
            </a:r>
          </a:p>
          <a:p>
            <a:pPr marL="1200150" lvl="3" indent="-285750" eaLnBrk="1" hangingPunct="1">
              <a:lnSpc>
                <a:spcPct val="80000"/>
              </a:lnSpc>
              <a:spcBef>
                <a:spcPts val="100"/>
              </a:spcBef>
              <a:buFont typeface="Arial" panose="020B0604020202020204" pitchFamily="34" charset="0"/>
              <a:buChar char="–"/>
            </a:pPr>
            <a:r>
              <a:rPr lang="en-GB" altLang="en-US" sz="1600"/>
              <a:t>System:	Displays the “Thank you” page with the Receipt Number.  			Asks for feedback</a:t>
            </a:r>
          </a:p>
          <a:p>
            <a:pPr marL="1200150" lvl="3" indent="-285750" eaLnBrk="1" hangingPunct="1">
              <a:lnSpc>
                <a:spcPct val="80000"/>
              </a:lnSpc>
              <a:spcBef>
                <a:spcPts val="100"/>
              </a:spcBef>
              <a:buFont typeface="Arial" panose="020B0604020202020204" pitchFamily="34" charset="0"/>
              <a:buChar char="–"/>
            </a:pPr>
            <a:r>
              <a:rPr lang="en-GB" altLang="en-US" sz="1600"/>
              <a:t>Actor:		Completes feedback.  Presses the “Submit Feedback” button</a:t>
            </a:r>
          </a:p>
          <a:p>
            <a:pPr marL="1200150" lvl="3" indent="-285750" eaLnBrk="1" hangingPunct="1">
              <a:lnSpc>
                <a:spcPct val="80000"/>
              </a:lnSpc>
              <a:spcBef>
                <a:spcPts val="100"/>
              </a:spcBef>
              <a:buFont typeface="Arial" panose="020B0604020202020204" pitchFamily="34" charset="0"/>
              <a:buChar char="–"/>
            </a:pPr>
            <a:r>
              <a:rPr lang="en-GB" altLang="en-US" sz="1600"/>
              <a:t>System: 	Displays the final screen</a:t>
            </a:r>
          </a:p>
          <a:p>
            <a:pPr marL="231775" lvl="4" indent="-231775" eaLnBrk="1" hangingPunct="1">
              <a:spcBef>
                <a:spcPts val="100"/>
              </a:spcBef>
            </a:pPr>
            <a:endParaRPr lang="en-GB" altLang="en-US" sz="1600"/>
          </a:p>
          <a:p>
            <a:pPr marL="231775" lvl="4" indent="-231775" eaLnBrk="1" hangingPunct="1">
              <a:spcBef>
                <a:spcPts val="100"/>
              </a:spcBef>
            </a:pPr>
            <a:endParaRPr lang="en-GB" altLang="en-US" sz="1600"/>
          </a:p>
        </p:txBody>
      </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95288" y="2944813"/>
            <a:ext cx="4405312" cy="858837"/>
          </a:xfrm>
          <a:prstGeom prst="rect">
            <a:avLst/>
          </a:prstGeom>
        </p:spPr>
        <p:txBody>
          <a:bodyPr lIns="0" tIns="0" rIns="0" bIns="0">
            <a:spAutoFit/>
          </a:bodyPr>
          <a:lstStyle/>
          <a:p>
            <a:pPr marL="11206">
              <a:lnSpc>
                <a:spcPts val="6733"/>
              </a:lnSpc>
              <a:defRPr/>
            </a:pPr>
            <a:r>
              <a:rPr sz="5824" spc="-4" dirty="0">
                <a:solidFill>
                  <a:schemeClr val="bg1"/>
                </a:solidFill>
                <a:latin typeface="Arial"/>
                <a:cs typeface="Arial"/>
              </a:rPr>
              <a:t>THAN</a:t>
            </a:r>
            <a:r>
              <a:rPr sz="5824" dirty="0">
                <a:solidFill>
                  <a:schemeClr val="bg1"/>
                </a:solidFill>
                <a:latin typeface="Arial"/>
                <a:cs typeface="Arial"/>
              </a:rPr>
              <a:t>K</a:t>
            </a:r>
            <a:r>
              <a:rPr sz="5824" spc="-106" dirty="0">
                <a:solidFill>
                  <a:schemeClr val="bg1"/>
                </a:solidFill>
                <a:latin typeface="Arial"/>
                <a:cs typeface="Arial"/>
              </a:rPr>
              <a:t> </a:t>
            </a:r>
            <a:r>
              <a:rPr sz="5824" dirty="0">
                <a:solidFill>
                  <a:schemeClr val="bg1"/>
                </a:solidFill>
                <a:latin typeface="Arial"/>
                <a:cs typeface="Arial"/>
              </a:rPr>
              <a:t>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25366</TotalTime>
  <Words>216</Words>
  <Application>Microsoft Macintosh PowerPoint</Application>
  <PresentationFormat>On-screen Show (4:3)</PresentationFormat>
  <Paragraphs>49</Paragraphs>
  <Slides>4</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vt:i4>
      </vt:variant>
    </vt:vector>
  </HeadingPairs>
  <TitlesOfParts>
    <vt:vector size="15" baseType="lpstr">
      <vt:lpstr>Arial</vt:lpstr>
      <vt:lpstr>Calibri</vt:lpstr>
      <vt:lpstr>IBMHelvCondBold</vt:lpstr>
      <vt:lpstr>MS PGothic</vt:lpstr>
      <vt:lpstr>ＭＳ Ｐゴシック</vt:lpstr>
      <vt:lpstr>SimSun</vt:lpstr>
      <vt:lpstr>Times New Roman</vt:lpstr>
      <vt:lpstr>Wingdings</vt:lpstr>
      <vt:lpstr>等线</vt:lpstr>
      <vt:lpstr>等线 Light</vt:lpstr>
      <vt:lpstr>Office Theme</vt:lpstr>
      <vt:lpstr>Exercise 3: Component Modeling (Exercise Description)</vt:lpstr>
      <vt:lpstr>Exercise 3: Component Modeling</vt:lpstr>
      <vt:lpstr>Exercise 3: Component Modeling – Use Cases in Scope</vt:lpstr>
      <vt:lpstr>PowerPoint Presentation</vt:lpstr>
    </vt:vector>
  </TitlesOfParts>
  <Company>IBM</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dc:title>
  <dc:creator>IT Architect Profession</dc:creator>
  <cp:lastModifiedBy>Oscar ADINOLFI</cp:lastModifiedBy>
  <cp:revision>839</cp:revision>
  <dcterms:created xsi:type="dcterms:W3CDTF">2007-01-18T11:45:01Z</dcterms:created>
  <dcterms:modified xsi:type="dcterms:W3CDTF">2017-10-19T23:32:31Z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B3CF67DE-7396-45A2-8779-DBD787E616F1</vt:lpwstr>
  </property>
  <property fmtid="{D5CDD505-2E9C-101B-9397-08002B2CF9AE}" pid="3" name="ArticulatePath">
    <vt:lpwstr>02_What is Architecture v6.0(1)</vt:lpwstr>
  </property>
</Properties>
</file>